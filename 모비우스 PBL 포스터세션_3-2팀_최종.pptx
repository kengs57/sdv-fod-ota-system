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5531425" cx="32399275"/>
  <p:notesSz cx="6858000" cy="9144000"/>
  <p:embeddedFontLst>
    <p:embeddedFont>
      <p:font typeface="Play"/>
      <p:regular r:id="rId7"/>
      <p:bold r:id="rId8"/>
    </p:embeddedFont>
    <p:embeddedFont>
      <p:font typeface="Noto Sans KR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91">
          <p15:clr>
            <a:srgbClr val="747775"/>
          </p15:clr>
        </p15:guide>
        <p15:guide id="2" pos="10205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8/gN3LpFRf1poq4IUu7cBTL7e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91" orient="horz"/>
        <p:guide pos="102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otoSansK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Relationship Id="rId11" Type="http://customschemas.google.com/relationships/presentationmetadata" Target="metadata"/><Relationship Id="rId10" Type="http://schemas.openxmlformats.org/officeDocument/2006/relationships/font" Target="fonts/NotoSansK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865313" y="685800"/>
            <a:ext cx="31273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947" y="5814983"/>
            <a:ext cx="27539395" cy="123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Play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049911" y="18662225"/>
            <a:ext cx="24299466" cy="857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/>
            </a:lvl1pPr>
            <a:lvl2pPr lvl="1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6"/>
            </a:lvl2pPr>
            <a:lvl3pPr lvl="2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78"/>
            </a:lvl3pPr>
            <a:lvl4pPr lvl="3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4pPr>
            <a:lvl5pPr lvl="4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5pPr>
            <a:lvl6pPr lvl="5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6pPr>
            <a:lvl7pPr lvl="6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7pPr>
            <a:lvl8pPr lvl="7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8pPr>
            <a:lvl9pPr lvl="8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 rot="5400000">
            <a:off x="11623170" y="13454292"/>
            <a:ext cx="30111240" cy="698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-2551518" y="6670691"/>
            <a:ext cx="30111240" cy="20553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227262" y="1892300"/>
            <a:ext cx="27944762" cy="686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4927599" y="6757988"/>
            <a:ext cx="22544087" cy="27944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231671" y="2368762"/>
            <a:ext cx="10449614" cy="82906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Play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/>
          <p:nvPr>
            <p:ph idx="2" type="pic"/>
          </p:nvPr>
        </p:nvSpPr>
        <p:spPr>
          <a:xfrm>
            <a:off x="13773917" y="5115875"/>
            <a:ext cx="16402140" cy="25250341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2231671" y="10659428"/>
            <a:ext cx="10449614" cy="19747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231671" y="2368762"/>
            <a:ext cx="10449614" cy="82906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Play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3773917" y="5115875"/>
            <a:ext cx="16402140" cy="25250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48563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1338"/>
              <a:buChar char="•"/>
              <a:defRPr sz="11338"/>
            </a:lvl1pPr>
            <a:lvl2pPr indent="-858583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9921"/>
              <a:buChar char="•"/>
              <a:defRPr sz="9921"/>
            </a:lvl2pPr>
            <a:lvl3pPr indent="-768604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Char char="•"/>
              <a:defRPr sz="8504"/>
            </a:lvl3pPr>
            <a:lvl4pPr indent="-678561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4pPr>
            <a:lvl5pPr indent="-678561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5pPr>
            <a:lvl6pPr indent="-678561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6pPr>
            <a:lvl7pPr indent="-678561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7pPr>
            <a:lvl8pPr indent="-678561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8pPr>
            <a:lvl9pPr indent="-678561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231671" y="10659428"/>
            <a:ext cx="10449614" cy="19747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2227262" y="1892300"/>
            <a:ext cx="27944762" cy="686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2231671" y="1891727"/>
            <a:ext cx="27944386" cy="6867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2231675" y="8710137"/>
            <a:ext cx="13706415" cy="42687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2231675" y="12978840"/>
            <a:ext cx="13706415" cy="19089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3" type="body"/>
          </p:nvPr>
        </p:nvSpPr>
        <p:spPr>
          <a:xfrm>
            <a:off x="16402142" y="8710137"/>
            <a:ext cx="13773917" cy="42687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57" name="Google Shape;57;p10"/>
          <p:cNvSpPr txBox="1"/>
          <p:nvPr>
            <p:ph idx="4" type="body"/>
          </p:nvPr>
        </p:nvSpPr>
        <p:spPr>
          <a:xfrm>
            <a:off x="16402142" y="12978840"/>
            <a:ext cx="13773917" cy="19089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227262" y="1892300"/>
            <a:ext cx="27944762" cy="686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2227451" y="9458597"/>
            <a:ext cx="13769697" cy="225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16402140" y="9458597"/>
            <a:ext cx="13769697" cy="225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210578" y="8858192"/>
            <a:ext cx="27944386" cy="14780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Play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210578" y="23778100"/>
            <a:ext cx="27944386" cy="777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rgbClr val="757575"/>
              </a:buClr>
              <a:buSzPts val="8504"/>
              <a:buNone/>
              <a:defRPr sz="8504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7086"/>
              <a:buNone/>
              <a:defRPr sz="7086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6378"/>
              <a:buNone/>
              <a:defRPr sz="6378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2227262" y="1892300"/>
            <a:ext cx="27944762" cy="686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2227262" y="9458325"/>
            <a:ext cx="27944762" cy="2254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27262" y="1892300"/>
            <a:ext cx="27944762" cy="686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0"/>
              <a:buFont typeface="Play"/>
              <a:buNone/>
              <a:defRPr b="0" i="0" sz="15589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27262" y="9458325"/>
            <a:ext cx="27944762" cy="2254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58583" lvl="0" marL="457200" marR="0" rtl="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9921"/>
              <a:buFont typeface="Arial"/>
              <a:buChar char="•"/>
              <a:defRPr b="0" i="0" sz="99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768604" lvl="1" marL="914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Font typeface="Arial"/>
              <a:buChar char="•"/>
              <a:defRPr b="0" i="0" sz="85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78561" lvl="2" marL="1371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b="0" i="0" sz="708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33603" lvl="3" marL="1828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33603" lvl="4" marL="22860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633603" lvl="5" marL="27432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33603" lvl="6" marL="3200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33603" lvl="7" marL="3657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33603" lvl="8" marL="4114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27262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731500" y="32932687"/>
            <a:ext cx="10936287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2882225" y="32932687"/>
            <a:ext cx="728980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png"/><Relationship Id="rId22" Type="http://schemas.openxmlformats.org/officeDocument/2006/relationships/image" Target="../media/image14.png"/><Relationship Id="rId21" Type="http://schemas.openxmlformats.org/officeDocument/2006/relationships/image" Target="../media/image8.png"/><Relationship Id="rId24" Type="http://schemas.openxmlformats.org/officeDocument/2006/relationships/image" Target="../media/image17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26" Type="http://schemas.openxmlformats.org/officeDocument/2006/relationships/image" Target="../media/image22.png"/><Relationship Id="rId25" Type="http://schemas.openxmlformats.org/officeDocument/2006/relationships/image" Target="../media/image23.png"/><Relationship Id="rId28" Type="http://schemas.openxmlformats.org/officeDocument/2006/relationships/image" Target="../media/image15.jpg"/><Relationship Id="rId27" Type="http://schemas.openxmlformats.org/officeDocument/2006/relationships/image" Target="../media/image12.jp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29" Type="http://schemas.openxmlformats.org/officeDocument/2006/relationships/image" Target="../media/image11.jpg"/><Relationship Id="rId7" Type="http://schemas.openxmlformats.org/officeDocument/2006/relationships/image" Target="../media/image19.png"/><Relationship Id="rId8" Type="http://schemas.openxmlformats.org/officeDocument/2006/relationships/image" Target="../media/image16.png"/><Relationship Id="rId31" Type="http://schemas.openxmlformats.org/officeDocument/2006/relationships/image" Target="../media/image20.png"/><Relationship Id="rId30" Type="http://schemas.openxmlformats.org/officeDocument/2006/relationships/image" Target="../media/image21.jpg"/><Relationship Id="rId11" Type="http://schemas.openxmlformats.org/officeDocument/2006/relationships/image" Target="../media/image24.png"/><Relationship Id="rId10" Type="http://schemas.openxmlformats.org/officeDocument/2006/relationships/image" Target="../media/image1.png"/><Relationship Id="rId32" Type="http://schemas.openxmlformats.org/officeDocument/2006/relationships/image" Target="../media/image27.png"/><Relationship Id="rId13" Type="http://schemas.openxmlformats.org/officeDocument/2006/relationships/image" Target="../media/image5.png"/><Relationship Id="rId12" Type="http://schemas.openxmlformats.org/officeDocument/2006/relationships/image" Target="../media/image10.png"/><Relationship Id="rId15" Type="http://schemas.openxmlformats.org/officeDocument/2006/relationships/image" Target="../media/image3.png"/><Relationship Id="rId14" Type="http://schemas.openxmlformats.org/officeDocument/2006/relationships/image" Target="../media/image18.png"/><Relationship Id="rId17" Type="http://schemas.openxmlformats.org/officeDocument/2006/relationships/hyperlink" Target="http://kmenga.tplinkdns.com:1521" TargetMode="External"/><Relationship Id="rId16" Type="http://schemas.openxmlformats.org/officeDocument/2006/relationships/image" Target="../media/image13.png"/><Relationship Id="rId19" Type="http://schemas.openxmlformats.org/officeDocument/2006/relationships/hyperlink" Target="http://kmenga.tplinkdns.com:1521" TargetMode="External"/><Relationship Id="rId18" Type="http://schemas.openxmlformats.org/officeDocument/2006/relationships/hyperlink" Target="http://kmenga.tplinkdns.com:15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348073" cy="37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437" y="4014341"/>
            <a:ext cx="13947773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32399287" cy="37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0" y="33497837"/>
            <a:ext cx="32399287" cy="2108200"/>
          </a:xfrm>
          <a:prstGeom prst="rect">
            <a:avLst/>
          </a:prstGeom>
          <a:solidFill>
            <a:srgbClr val="04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6200437" y="3759200"/>
            <a:ext cx="0" cy="29738637"/>
          </a:xfrm>
          <a:prstGeom prst="straightConnector1">
            <a:avLst/>
          </a:prstGeom>
          <a:noFill/>
          <a:ln cap="flat" cmpd="sng" w="38100">
            <a:solidFill>
              <a:schemeClr val="dk1">
                <a:alpha val="2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1"/>
          <p:cNvSpPr txBox="1"/>
          <p:nvPr/>
        </p:nvSpPr>
        <p:spPr>
          <a:xfrm>
            <a:off x="1352550" y="4279453"/>
            <a:ext cx="1216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52550" y="885825"/>
            <a:ext cx="30207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클라우드 기반 FoD(구독형) 서비스</a:t>
            </a:r>
            <a:r>
              <a:rPr b="1" i="0" lang="en-US" sz="7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vECU의 기능 추가를 위한 OTA 프로세스 구현 -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52550" y="2266950"/>
            <a:ext cx="21483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윤상기, 김기홍, 박종화, 조의리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87425" y="5392291"/>
            <a:ext cx="1397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본격적인 </a:t>
            </a:r>
            <a:r>
              <a:rPr b="1" i="0" lang="en-US" sz="3000" u="none" cap="none" strike="noStrike">
                <a:solidFill>
                  <a:srgbClr val="077481"/>
                </a:solidFill>
                <a:latin typeface="Arial"/>
                <a:ea typeface="Arial"/>
                <a:cs typeface="Arial"/>
                <a:sym typeface="Arial"/>
              </a:rPr>
              <a:t>Software Defined Vehicle(SDV)</a:t>
            </a:r>
            <a:r>
              <a:rPr b="1" i="0" lang="en-US" sz="3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로의 전환과 </a:t>
            </a:r>
            <a:br>
              <a:rPr b="1" i="0" lang="en-US" sz="3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핵심 수익 모델, </a:t>
            </a:r>
            <a:r>
              <a:rPr b="1" i="0" lang="en-US" sz="3000" u="none" cap="none" strike="noStrike">
                <a:solidFill>
                  <a:srgbClr val="077481"/>
                </a:solidFill>
                <a:latin typeface="Arial"/>
                <a:ea typeface="Arial"/>
                <a:cs typeface="Arial"/>
                <a:sym typeface="Arial"/>
              </a:rPr>
              <a:t>Feature on Demand(FoD)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437" y="34272537"/>
            <a:ext cx="7277100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21212175" y="34136012"/>
            <a:ext cx="1007427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모비우스 부트캠프 1기 PBL 보고서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1114412" y="12760128"/>
            <a:ext cx="13947773" cy="1238250"/>
            <a:chOff x="1087437" y="15179675"/>
            <a:chExt cx="13947773" cy="1238250"/>
          </a:xfrm>
        </p:grpSpPr>
        <p:pic>
          <p:nvPicPr>
            <p:cNvPr id="96" name="Google Shape;9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7437" y="15179675"/>
              <a:ext cx="13947773" cy="123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"/>
            <p:cNvSpPr txBox="1"/>
            <p:nvPr/>
          </p:nvSpPr>
          <p:spPr>
            <a:xfrm>
              <a:off x="1352550" y="15444787"/>
              <a:ext cx="121617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자동차와 클라우드를 잇는 스마트 카 커머스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087424" y="21051277"/>
            <a:ext cx="13947773" cy="1238250"/>
            <a:chOff x="1087437" y="24730075"/>
            <a:chExt cx="13947773" cy="1238250"/>
          </a:xfrm>
        </p:grpSpPr>
        <p:pic>
          <p:nvPicPr>
            <p:cNvPr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7437" y="24730075"/>
              <a:ext cx="13947773" cy="1238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"/>
            <p:cNvSpPr txBox="1"/>
            <p:nvPr/>
          </p:nvSpPr>
          <p:spPr>
            <a:xfrm>
              <a:off x="1352550" y="24995187"/>
              <a:ext cx="121617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앰비언트 라이트 목록 업데이트 및 실행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8675" y="9844925"/>
            <a:ext cx="13947773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17605375" y="10110037"/>
            <a:ext cx="1210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내비게이션 고장 조치 및 버전 업데이트 통한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90338" y="23692659"/>
            <a:ext cx="13947773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17657038" y="23957771"/>
            <a:ext cx="1210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AWS &amp; Docker 기반 Oracle Database 인프라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64475" y="29623566"/>
            <a:ext cx="13947773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17631175" y="29888678"/>
            <a:ext cx="1210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프로젝트 후기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425" y="34197125"/>
            <a:ext cx="9188997" cy="70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17365650" y="21302270"/>
            <a:ext cx="14051100" cy="245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내비게이션 정상 동작 상황에서 강제 고장 주입으로 내비게이션 고장 상황을 만들고 개선된 버전 확인 및 서버를 통해 다운로드 및 업데이트 과정을 통해 내비게이션 동작 정상화 프로세스. CANoe 기반 구성 및 CAPL, Python으로 로직 구현.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167488" y="18605361"/>
            <a:ext cx="14051100" cy="2123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가상 환경 내에서 VIN(차대번호)기반 맞춤형 기능 조회 및 구매 시스템을 구축. 파이썬을 매개체로 클라우드DB와 실시간 통신하여, 자동차 패널과 서버 간의 끊김 없는 데이터 연동을 구현.(CANoe : 가상차량 분석 및 테스트 도구)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19099" y="31070398"/>
            <a:ext cx="14979752" cy="1865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CANoe에서 패널을 통해 사용자의 앰비언트 라이트 색상 구매 여부를 확인하고,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추가 색상 구매 후, 새로고침 버튼 누름. 구매한 색상 선택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패널에서 선택한 색상으로 앰비언트 라이트 색상이 바뀌는 것 확인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 title="FOD_Service_01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11713" y="25142836"/>
            <a:ext cx="4644876" cy="194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9">
            <a:alphaModFix/>
          </a:blip>
          <a:srcRect b="7241" l="9022" r="8436" t="3688"/>
          <a:stretch/>
        </p:blipFill>
        <p:spPr>
          <a:xfrm>
            <a:off x="1087425" y="6440441"/>
            <a:ext cx="7379925" cy="33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10">
            <a:alphaModFix/>
          </a:blip>
          <a:srcRect b="0" l="0" r="3073" t="0"/>
          <a:stretch/>
        </p:blipFill>
        <p:spPr>
          <a:xfrm>
            <a:off x="8597200" y="6440441"/>
            <a:ext cx="6464974" cy="33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1087424" y="9924766"/>
            <a:ext cx="7509775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FoD란?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497D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OTA 기반의 선택적 기능 활성화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차량 판매 후 지속적 수익 창출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*OTA(Over-the-Air): 무선 통신 기반 차량 S/W 업데이트 기술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" title="PC1_Penal_01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28400" y="14560978"/>
            <a:ext cx="6464975" cy="32264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"/>
          <p:cNvGrpSpPr/>
          <p:nvPr/>
        </p:nvGrpSpPr>
        <p:grpSpPr>
          <a:xfrm>
            <a:off x="18577410" y="25009210"/>
            <a:ext cx="5459012" cy="2210083"/>
            <a:chOff x="-7541452" y="9123484"/>
            <a:chExt cx="6350642" cy="2571060"/>
          </a:xfrm>
        </p:grpSpPr>
        <p:pic>
          <p:nvPicPr>
            <p:cNvPr id="117" name="Google Shape;117;p1" title="cloud.png"/>
            <p:cNvPicPr preferRelativeResize="0"/>
            <p:nvPr/>
          </p:nvPicPr>
          <p:blipFill rotWithShape="1">
            <a:blip r:embed="rId12">
              <a:alphaModFix/>
            </a:blip>
            <a:srcRect b="19295" l="0" r="0" t="17772"/>
            <a:stretch/>
          </p:blipFill>
          <p:spPr>
            <a:xfrm>
              <a:off x="-7541452" y="9221064"/>
              <a:ext cx="6350642" cy="2409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" title="AWS Cloud.png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-7105931" y="9123484"/>
              <a:ext cx="1401638" cy="788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"/>
            <p:cNvSpPr/>
            <p:nvPr/>
          </p:nvSpPr>
          <p:spPr>
            <a:xfrm>
              <a:off x="-6543247" y="10212450"/>
              <a:ext cx="4264200" cy="630900"/>
            </a:xfrm>
            <a:prstGeom prst="rect">
              <a:avLst/>
            </a:prstGeom>
            <a:solidFill>
              <a:srgbClr val="E0E0E0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925" lIns="79925" spcFirstLastPara="1" rIns="79925" wrap="square" tIns="7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3"/>
                <a:buFont typeface="Arial"/>
                <a:buNone/>
              </a:pPr>
              <a:r>
                <a:t/>
              </a:r>
              <a:endParaRPr b="0" i="0" sz="1223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120" name="Google Shape;120;p1" title="docker-logo-ocean-blue.png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-6299841" y="10366897"/>
              <a:ext cx="1531981" cy="350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"/>
            <p:cNvSpPr/>
            <p:nvPr/>
          </p:nvSpPr>
          <p:spPr>
            <a:xfrm>
              <a:off x="-4380940" y="10274096"/>
              <a:ext cx="1856700" cy="536100"/>
            </a:xfrm>
            <a:prstGeom prst="rect">
              <a:avLst/>
            </a:prstGeom>
            <a:solidFill>
              <a:srgbClr val="FCE5CD"/>
            </a:solidFill>
            <a:ln cap="flat" cmpd="sng" w="11350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925" lIns="108925" spcFirstLastPara="1" rIns="108925" wrap="square" tIns="108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7"/>
                <a:buFont typeface="Arial"/>
                <a:buNone/>
              </a:pPr>
              <a:r>
                <a:t/>
              </a:r>
              <a:endParaRPr b="0" i="0" sz="1667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122" name="Google Shape;122;p1" title="Oracle logo.png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-4001301" y="10313631"/>
              <a:ext cx="1370300" cy="428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" title="database.png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-4380950" y="10259804"/>
              <a:ext cx="536150" cy="536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"/>
            <p:cNvSpPr txBox="1"/>
            <p:nvPr/>
          </p:nvSpPr>
          <p:spPr>
            <a:xfrm>
              <a:off x="-5824366" y="9236400"/>
              <a:ext cx="1401600" cy="6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925" lIns="108925" spcFirstLastPara="1" rIns="108925" wrap="square" tIns="10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1"/>
                <a:buFont typeface="Arial"/>
                <a:buNone/>
              </a:pPr>
              <a:r>
                <a:rPr b="1" i="0" lang="en-US" sz="2501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Cloud</a:t>
              </a:r>
              <a:endParaRPr b="1" i="0" sz="2501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5" name="Google Shape;125;p1"/>
            <p:cNvSpPr txBox="1"/>
            <p:nvPr/>
          </p:nvSpPr>
          <p:spPr>
            <a:xfrm>
              <a:off x="-7408217" y="10841644"/>
              <a:ext cx="5894400" cy="8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925" lIns="108925" spcFirstLastPara="1" rIns="108925" wrap="square" tIns="1089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7"/>
                <a:buFont typeface="Arial"/>
                <a:buNone/>
              </a:pPr>
              <a:r>
                <a:rPr b="0" i="0" lang="en-US" sz="1667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 Base user = “</a:t>
              </a:r>
              <a:r>
                <a:rPr lang="en-US" sz="1667">
                  <a:latin typeface="Noto Sans KR"/>
                  <a:ea typeface="Noto Sans KR"/>
                  <a:cs typeface="Noto Sans KR"/>
                  <a:sym typeface="Noto Sans KR"/>
                </a:rPr>
                <a:t>name</a:t>
              </a:r>
              <a:r>
                <a:rPr b="0" i="0" lang="en-US" sz="1667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” password = “</a:t>
              </a:r>
              <a:r>
                <a:rPr lang="en-US" sz="1667">
                  <a:latin typeface="Noto Sans KR"/>
                  <a:ea typeface="Noto Sans KR"/>
                  <a:cs typeface="Noto Sans KR"/>
                  <a:sym typeface="Noto Sans KR"/>
                </a:rPr>
                <a:t>pw</a:t>
              </a:r>
              <a:r>
                <a:rPr b="0" i="0" lang="en-US" sz="1667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”  </a:t>
              </a:r>
              <a:endParaRPr b="0" i="0" sz="1667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7"/>
                <a:buFont typeface="Arial"/>
                <a:buNone/>
              </a:pPr>
              <a:r>
                <a:rPr b="0" i="0" lang="en-US" sz="1667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dsn = “</a:t>
              </a:r>
              <a:r>
                <a:rPr b="0" i="0" lang="en-US" sz="1667" u="sng" cap="none" strike="noStrike">
                  <a:solidFill>
                    <a:srgbClr val="0097A7"/>
                  </a:solidFill>
                  <a:latin typeface="Noto Sans KR"/>
                  <a:ea typeface="Noto Sans KR"/>
                  <a:cs typeface="Noto Sans KR"/>
                  <a:sym typeface="Noto Sans KR"/>
                  <a:hlinkClick r:id="rId1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http://</a:t>
              </a:r>
              <a:r>
                <a:rPr lang="en-US" sz="1667" u="sng">
                  <a:solidFill>
                    <a:srgbClr val="0097A7"/>
                  </a:solidFill>
                  <a:latin typeface="Noto Sans KR"/>
                  <a:ea typeface="Noto Sans KR"/>
                  <a:cs typeface="Noto Sans KR"/>
                  <a:sym typeface="Noto Sans KR"/>
                  <a:hlinkClick r:id="rId1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id</a:t>
              </a:r>
              <a:r>
                <a:rPr b="0" i="0" lang="en-US" sz="1667" u="sng" cap="none" strike="noStrike">
                  <a:solidFill>
                    <a:srgbClr val="0097A7"/>
                  </a:solidFill>
                  <a:latin typeface="Noto Sans KR"/>
                  <a:ea typeface="Noto Sans KR"/>
                  <a:cs typeface="Noto Sans KR"/>
                  <a:sym typeface="Noto Sans KR"/>
                  <a:hlinkClick r:id="rId1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.tplinkdns.com:1521</a:t>
              </a:r>
              <a:r>
                <a:rPr b="0" i="0" lang="en-US" sz="1667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/xe”</a:t>
              </a:r>
              <a:endParaRPr b="0" i="0" sz="1667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17364475" y="27779771"/>
            <a:ext cx="14051100" cy="1865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시스템 : AWS &amp; Doker 기반 Oracle database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컨테이너 기술로 구현한 이식성, 수많은 차량과 사용자가 접속해도 중단 없는 실시간 데이터 환경을 제공.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7312875" y="31018172"/>
            <a:ext cx="14051100" cy="245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자동차 산업의 핵심 툴인 CANoe를 직접 사용하며 CANoe, CANdb, CAPL, Panel 등에 대한 사용 방법을 배우고, V-cycle방법론 기반의 팀 프로젝트를 통해 각 프로세스의 역할과 진행사항, 산출물 작성 등의 체계적인 개발 프로세스를 경험한 값진 시간이었습니다.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8288224" y="9924766"/>
            <a:ext cx="7291505" cy="18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기대 효과 (Expected Effects)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497D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UX 혁신: 개인 맞춤형 기능 구독 및 실시간 업데이트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수익 극대화: SW 중심의 지속 가능한 순환형 매출 확보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기술 신뢰성: 선제적 결함 대응 및 보안 강화</a:t>
            </a:r>
            <a:endParaRPr b="1" i="0" sz="21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" title="PC1_Penal_03.png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219101" y="14560925"/>
            <a:ext cx="6464976" cy="3226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 title="navi_5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7338687" y="17855155"/>
            <a:ext cx="6663597" cy="28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" title="navi_6.png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4622975" y="17855155"/>
            <a:ext cx="6663597" cy="28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 title="navi_7.png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7338675" y="11095452"/>
            <a:ext cx="6663597" cy="28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 title="navi_1.png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4622976" y="11095452"/>
            <a:ext cx="6663597" cy="28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title="navi_2.png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7338675" y="14479571"/>
            <a:ext cx="6663597" cy="28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" title="navi_4.png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4622975" y="14479571"/>
            <a:ext cx="6663597" cy="282478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17338675" y="13920229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정상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4622975" y="13920229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고장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7338675" y="17304348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24622975" y="17304373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다운로드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7338675" y="20679919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승인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24622975" y="20679957"/>
            <a:ext cx="66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업데이트</a:t>
            </a:r>
            <a:endParaRPr b="1" i="0" sz="3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 title="on.jpg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787188" y="22649586"/>
            <a:ext cx="6747000" cy="333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red.jpg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825300" y="26480600"/>
            <a:ext cx="6747001" cy="38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title="refresh.jpg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219100" y="26510150"/>
            <a:ext cx="6251025" cy="3759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 title="off.jpg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163638" y="22683023"/>
            <a:ext cx="6251026" cy="333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"/>
          <p:cNvSpPr txBox="1"/>
          <p:nvPr/>
        </p:nvSpPr>
        <p:spPr>
          <a:xfrm>
            <a:off x="2304963" y="25982111"/>
            <a:ext cx="3816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라이트 OFF </a:t>
            </a:r>
            <a:endParaRPr b="1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8819500" y="25924562"/>
            <a:ext cx="5068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라이트 ON-기본 흰색 </a:t>
            </a:r>
            <a:endParaRPr b="1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2381138" y="30305586"/>
            <a:ext cx="3816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색상 구매 후 새로고침 </a:t>
            </a:r>
            <a:endParaRPr b="1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336638" y="30364086"/>
            <a:ext cx="5724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구매한 빨간색 라이트 ON</a:t>
            </a:r>
            <a:endParaRPr b="1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" title="스크린샷 2026-02-14 114959.png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7338675" y="5439250"/>
            <a:ext cx="8097443" cy="355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8675" y="4018249"/>
            <a:ext cx="13947773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"/>
          <p:cNvSpPr txBox="1"/>
          <p:nvPr/>
        </p:nvSpPr>
        <p:spPr>
          <a:xfrm>
            <a:off x="17605375" y="4283361"/>
            <a:ext cx="1210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프로젝트 컨셉디자인 및 개발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3625250" y="17980413"/>
            <a:ext cx="1327800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GV80</a:t>
            </a:r>
            <a:endParaRPr b="0" i="0" sz="992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10522038" y="17980400"/>
            <a:ext cx="1874700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CASPER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5546850" y="5449238"/>
            <a:ext cx="5724298" cy="355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/>
          <p:cNvSpPr txBox="1"/>
          <p:nvPr/>
        </p:nvSpPr>
        <p:spPr>
          <a:xfrm>
            <a:off x="17338675" y="9197333"/>
            <a:ext cx="14051100" cy="683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컨셉 디자인 및 개발방법 V-Cycle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19993668" y="27132263"/>
            <a:ext cx="262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7270250" y="27132263"/>
            <a:ext cx="1327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